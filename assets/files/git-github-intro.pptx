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itppt/icons/branch_whit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418320" y="-914400"/>
            <a:ext cx="4114800" cy="4114800"/>
          </a:xfrm>
          <a:prstGeom prst="rect">
            <a:avLst/>
          </a:prstGeom>
        </p:spPr>
      </p:pic>
      <p:pic>
        <p:nvPicPr>
          <p:cNvPr id="3" name="Image 1" descr="/tmp/gitppt/icons/git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8" y="1234440"/>
            <a:ext cx="914400" cy="9144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 입문</a:t>
            </a:r>
            <a:endParaRPr lang="en-US" sz="4600" dirty="0"/>
          </a:p>
        </p:txBody>
      </p:sp>
      <p:sp>
        <p:nvSpPr>
          <p:cNvPr id="5" name="Text 1"/>
          <p:cNvSpPr txBox="1"/>
          <p:nvPr/>
        </p:nvSpPr>
        <p:spPr>
          <a:xfrm>
            <a:off x="0" y="33375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관리와 협업의 기초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Git·GitHub를 처음 배우는 사람을 위한 교육자료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Git과 GitHub는 다릅니다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하나는 도구, 하나는 그 도구를 위한 온라인 서비스입니다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48840"/>
            <a:ext cx="914400" cy="9144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6" name="Image 0" descr="/tmp/gitppt/icons/g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3500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200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794760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컴퓨터에서 동작하는 로컬 버전 관리 "도구"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파일이 바뀐 이력을 기록하고 추적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브랜치, 커밋 등 버전 관리 기능 제공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99632" y="169164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56832" y="2148840"/>
            <a:ext cx="914400" cy="91440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11" name="Image 1" descr="/tmp/gitppt/icons/githu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35000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56832" y="3200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96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6656832" y="3794760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저장소를 위한 온라인 호스팅 서비스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저장소 보관 및 여러 사람과의 협업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Request, Issue 등 협업 기능 제공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Agent가 자주 실행하는 git 명령어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명령어가 실행되는 이유를 이해하면 작업 흐름을 더 잘 따라갈 수 있습니다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1660" y="2286000"/>
            <a:ext cx="914400" cy="9144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6" name="Image 0" descr="/tmp/gitppt/icons/bra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828" y="248716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383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319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브랜치를 확인하거나, 작업할 브랜치를 새로 만들기 위해 실행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52544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55564" y="2286000"/>
            <a:ext cx="914400" cy="91440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11" name="Image 1" descr="/tmp/gitppt/icons/commi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248716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35424" y="3383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39319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변경한 내용을 하나의 작업 단위로 로컬 저장소에 기록하기 위해 실행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56448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459468" y="2286000"/>
            <a:ext cx="914400" cy="914400"/>
          </a:xfrm>
          <a:prstGeom prst="ellipse">
            <a:avLst/>
          </a:prstGeom>
          <a:solidFill>
            <a:srgbClr val="1B1F23"/>
          </a:solidFill>
          <a:ln/>
        </p:spPr>
      </p:sp>
      <p:pic>
        <p:nvPicPr>
          <p:cNvPr id="16" name="Image 2" descr="/tmp/gitppt/icons/diff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636" y="248716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39328" y="3383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76488" y="39319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전후 내용을 비교해 의도한 변경만 들어갔는지 검토하기 위해 실행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status  vs  git log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 다 "확인"하는 명령어지만, 보여주는 정보가 다릅니다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48840"/>
            <a:ext cx="914400" cy="9144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6" name="Image 0" descr="/tmp/gitppt/icons/stat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3500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200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840480"/>
            <a:ext cx="4343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작업 디렉토리의 상태를 보여줌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수정된 파일, 스테이징(add) 여부 확인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추적되지 않는 파일 확인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99632" y="169164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56832" y="2148840"/>
            <a:ext cx="914400" cy="91440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11" name="Image 1" descr="/tmp/gitppt/icons/lo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35000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56832" y="3200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656832" y="3840480"/>
            <a:ext cx="4343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지금까지의 커밋 이력을 보여줌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작성자, 시각 확인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메시지를 순서대로 확인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브랜치(Branch)의 역할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독립된 작업 공간을 만들어, 메인 코드에 영향 없이 개발할 수 있게 해줍니다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2377440"/>
            <a:ext cx="9997135" cy="0"/>
          </a:xfrm>
          <a:prstGeom prst="line">
            <a:avLst/>
          </a:prstGeom>
          <a:noFill/>
          <a:ln w="31750">
            <a:solidFill>
              <a:srgbClr val="1B1F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9933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96421" y="2377440"/>
            <a:ext cx="822960" cy="1005840"/>
          </a:xfrm>
          <a:prstGeom prst="line">
            <a:avLst/>
          </a:prstGeom>
          <a:noFill/>
          <a:ln w="31750">
            <a:solidFill>
              <a:srgbClr val="F050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19381" y="3383280"/>
            <a:ext cx="2552877" cy="0"/>
          </a:xfrm>
          <a:prstGeom prst="line">
            <a:avLst/>
          </a:prstGeom>
          <a:noFill/>
          <a:ln w="31750">
            <a:solidFill>
              <a:srgbClr val="F050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472257" y="2377440"/>
            <a:ext cx="822960" cy="1005840"/>
          </a:xfrm>
          <a:prstGeom prst="line">
            <a:avLst/>
          </a:prstGeom>
          <a:noFill/>
          <a:ln w="31750">
            <a:solidFill>
              <a:srgbClr val="F050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7941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69848" y="2295144"/>
            <a:ext cx="164592" cy="164592"/>
          </a:xfrm>
          <a:prstGeom prst="ellipse">
            <a:avLst/>
          </a:prstGeom>
          <a:solidFill>
            <a:srgbClr val="1B1F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14125" y="2295144"/>
            <a:ext cx="164592" cy="164592"/>
          </a:xfrm>
          <a:prstGeom prst="ellipse">
            <a:avLst/>
          </a:prstGeom>
          <a:solidFill>
            <a:srgbClr val="1B1F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12921" y="2295144"/>
            <a:ext cx="164592" cy="164592"/>
          </a:xfrm>
          <a:prstGeom prst="ellipse">
            <a:avLst/>
          </a:prstGeom>
          <a:solidFill>
            <a:srgbClr val="1B1F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57255" y="2295144"/>
            <a:ext cx="164592" cy="164592"/>
          </a:xfrm>
          <a:prstGeom prst="ellipse">
            <a:avLst/>
          </a:prstGeom>
          <a:solidFill>
            <a:srgbClr val="1B1F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65685" y="3300984"/>
            <a:ext cx="164592" cy="164592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61361" y="3300984"/>
            <a:ext cx="164592" cy="164592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20897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215384"/>
            <a:ext cx="256032" cy="256032"/>
          </a:xfrm>
          <a:prstGeom prst="ellipse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pic>
        <p:nvPicPr>
          <p:cNvPr id="18" name="Image 0" descr="/tmp/gitppt/icons/check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4279392"/>
            <a:ext cx="128016" cy="12801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43000" y="41605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코드에 영향을 주지 않고 독립적인 공간에서 작업 가능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31520" y="4873752"/>
            <a:ext cx="256032" cy="256032"/>
          </a:xfrm>
          <a:prstGeom prst="ellipse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pic>
        <p:nvPicPr>
          <p:cNvPr id="21" name="Image 1" descr="/tmp/gitppt/icons/check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937760"/>
            <a:ext cx="128016" cy="12801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143000" y="481888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사람이 동시에 서로 다른 기능을 병렬로 개발 가능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731520" y="5532120"/>
            <a:ext cx="256032" cy="256032"/>
          </a:xfrm>
          <a:prstGeom prst="ellipse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pic>
        <p:nvPicPr>
          <p:cNvPr id="24" name="Image 2" descr="/tmp/gitppt/icons/check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5596128"/>
            <a:ext cx="128016" cy="12801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143000" y="5477256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작업이 끝나면 병합(merge)하여 하나의 코드로 통합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  와  Clone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 다 "복사"라는 개념이지만, 복사되는 위치가 다릅니다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48840"/>
            <a:ext cx="914400" cy="9144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6" name="Image 0" descr="/tmp/gitppt/icons/fo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3500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200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84048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사람의 GitHub 저장소를 내 GitHub 계정으로 복사하는 것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51206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결과물은 GitHub "내 계정"에 생성됨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9632" y="169164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56832" y="2148840"/>
            <a:ext cx="914400" cy="91440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12" name="Image 1" descr="/tmp/gitppt/icons/clo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35000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56832" y="3200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6656832" y="384048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GitHub의 저장소(원본 또는 Fork본)를 Git으로 내 컴퓨터에 내려받는 것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656832" y="51206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결과물은 "내 컴퓨터"에 생성됨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080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 팀 작업 순서: Fork → Clone → 로컬 작업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Request(PR)란?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920240" cy="192024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4" name="Image 0" descr="/tmp/gitppt/icons/p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3317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108960" y="1874520"/>
            <a:ext cx="8534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공유받은 저장소에서 작업한 후, 그 변경 사항을 원본 프로젝트에 병합해 달라고 요청하는 것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3794760"/>
            <a:ext cx="10545775" cy="713232"/>
          </a:xfrm>
          <a:prstGeom prst="roundRect">
            <a:avLst>
              <a:gd name="adj" fmla="val 1282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pic>
        <p:nvPicPr>
          <p:cNvPr id="7" name="Image 1" descr="/tmp/gitppt/icons/chec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01421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3794760"/>
            <a:ext cx="96313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사항을 저장소 관리자에게 공식적으로 검토받을 수 있음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22960" y="4663440"/>
            <a:ext cx="10545775" cy="713232"/>
          </a:xfrm>
          <a:prstGeom prst="roundRect">
            <a:avLst>
              <a:gd name="adj" fmla="val 1282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pic>
        <p:nvPicPr>
          <p:cNvPr id="10" name="Image 2" descr="/tmp/gitppt/icons/che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88289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4663440"/>
            <a:ext cx="96313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팀원들과 코드에 대해 논의하고 피드백을 주고받을 수 있음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22960" y="5532120"/>
            <a:ext cx="10545775" cy="713232"/>
          </a:xfrm>
          <a:prstGeom prst="roundRect">
            <a:avLst>
              <a:gd name="adj" fmla="val 1282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pic>
        <p:nvPicPr>
          <p:cNvPr id="13" name="Image 3" descr="/tmp/gitppt/icons/check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751576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08760" y="5532120"/>
            <a:ext cx="96313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병합(merge)되기 전 마지막으로 확인하는 단계 역할을 함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브랜치를 main에 반영하는 과정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올바른 순서로 진행해야 팀원과의 충돌 없이 안전하게 병합할 수 있습니다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51560" y="2377440"/>
            <a:ext cx="10204704" cy="0"/>
          </a:xfrm>
          <a:prstGeom prst="line">
            <a:avLst/>
          </a:prstGeom>
          <a:noFill/>
          <a:ln w="254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1874520"/>
            <a:ext cx="1005840" cy="1005840"/>
          </a:xfrm>
          <a:prstGeom prst="ellipse">
            <a:avLst/>
          </a:prstGeom>
          <a:solidFill>
            <a:srgbClr val="1B1F23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6" name="Image 0" descr="/tmp/gitppt/icons/comm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103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31089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로컬에서 commit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657600"/>
            <a:ext cx="20482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내용을 로컬 저장소에 기록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1874520"/>
            <a:ext cx="1005840" cy="1005840"/>
          </a:xfrm>
          <a:prstGeom prst="ellipse">
            <a:avLst/>
          </a:prstGeom>
          <a:solidFill>
            <a:srgbClr val="F05033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0" name="Image 1" descr="/tmp/gitppt/icons/pu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1031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70632" y="31089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feature 브랜치 push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2862072" y="3657600"/>
            <a:ext cx="20482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커밋을 GitHub 원격 저장소에 업로드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50992" y="1874520"/>
            <a:ext cx="1005840" cy="1005840"/>
          </a:xfrm>
          <a:prstGeom prst="ellipse">
            <a:avLst/>
          </a:prstGeom>
          <a:solidFill>
            <a:srgbClr val="0969DA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4" name="Image 2" descr="/tmp/gitppt/icons/p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10312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38344" y="31089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Pull Request 생성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5129784" y="3657600"/>
            <a:ext cx="20482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main에 병합을 공식적으로 요청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918704" y="1874520"/>
            <a:ext cx="1005840" cy="1005840"/>
          </a:xfrm>
          <a:prstGeom prst="ellipse">
            <a:avLst/>
          </a:prstGeom>
          <a:solidFill>
            <a:srgbClr val="1B1F23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8" name="Image 3" descr="/tmp/gitppt/icons/review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210312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06056" y="31089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코드 검토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7397496" y="3657600"/>
            <a:ext cx="20482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팀원이 코드 품질·오류를 확인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10186416" y="1874520"/>
            <a:ext cx="1005840" cy="1005840"/>
          </a:xfrm>
          <a:prstGeom prst="ellipse">
            <a:avLst/>
          </a:prstGeom>
          <a:solidFill>
            <a:srgbClr val="F05033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2" name="Image 4" descr="/tmp/gitppt/icons/merg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5016" y="210312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573768" y="31089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PR merge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9665208" y="3657600"/>
            <a:ext cx="20482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통과 후 main에 통합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commit → push → PR 생성 → 코드 검토 → merge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정리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5148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52B32"/>
          </a:solidFill>
          <a:ln w="12700">
            <a:solidFill>
              <a:srgbClr val="3A41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188" y="1920240"/>
            <a:ext cx="685800" cy="6858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5" name="Image 0" descr="/tmp/gitppt/icons/bra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80" y="20848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83868" y="1920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83868" y="23500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독립적인 작업 공간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35628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52B32"/>
          </a:solidFill>
          <a:ln w="12700">
            <a:solidFill>
              <a:srgbClr val="3A414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55668" y="1920240"/>
            <a:ext cx="685800" cy="6858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0" name="Image 1" descr="/tmp/gitppt/icons/commi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260" y="20848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24348" y="1920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524348" y="23500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내용 기록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76108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52B32"/>
          </a:solidFill>
          <a:ln w="12700">
            <a:solidFill>
              <a:srgbClr val="3A414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96148" y="1920240"/>
            <a:ext cx="685800" cy="6858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5" name="Image 2" descr="/tmp/gitppt/icons/diff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740" y="20848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364828" y="1920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9364828" y="23500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전후 비교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95148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52B32"/>
          </a:solidFill>
          <a:ln w="12700">
            <a:solidFill>
              <a:srgbClr val="3A414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15188" y="4160520"/>
            <a:ext cx="685800" cy="6858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0" name="Image 3" descr="/tmp/gitppt/icons/for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780" y="432511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83868" y="4160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683868" y="45902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계정으로 복사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335628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52B32"/>
          </a:solidFill>
          <a:ln w="12700">
            <a:solidFill>
              <a:srgbClr val="3A414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55668" y="4160520"/>
            <a:ext cx="685800" cy="6858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5" name="Image 4" descr="/tmp/gitppt/icons/clon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0260" y="432511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524348" y="4160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5524348" y="45902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컴퓨터로 다운로드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8176108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52B32"/>
          </a:solidFill>
          <a:ln w="12700">
            <a:solidFill>
              <a:srgbClr val="3A414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496148" y="4160520"/>
            <a:ext cx="685800" cy="6858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0" name="Image 5" descr="/tmp/gitppt/icons/p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0740" y="4325112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364828" y="4160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9364828" y="45902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 요청 및 코드 검토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0" y="6172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Git과 GitHub, 이제 기본 흐름을 이해하셨습니다!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2026-08-31T01:50:30Z</dcterms:created>
  <dcterms:modified xsi:type="dcterms:W3CDTF">2026-08-31T01:50:30Z</dcterms:modified>
</cp:coreProperties>
</file>